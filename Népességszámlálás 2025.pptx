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C3F991-B231-408F-6E13-EE3BB1245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A45511E-141C-E268-8335-D0B8EF0E1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B93EBB-42EB-7181-6F2D-C2E31D0E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74DC6EC-C3CE-964D-AEAB-712A187E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F1BA2E9-8293-D1AF-9E12-1CAF40274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8092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AA769E2-3BF0-CBB2-7D0D-8183403B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CF791F-C5B2-3F81-2284-CF1E5EB9E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EBB36BB-7045-BB25-811D-470D89B7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28110BC-F1A7-0990-91C5-C65E14133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7CE8559-9BF4-6772-B5C6-B23AEB1B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6403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135DE7-BFA4-D2FC-FE2B-4F6D5BE84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011A846-B72E-A8D3-CEA4-67171C11F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A788C5C-824E-3198-5215-8B816A13A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DE68685-D4C2-AD07-9724-6273E054E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0F6E1B3-0BCF-60BF-B008-1A82E860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3139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00EADEA-2080-9F09-5EB3-75CFE4AFF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38F924-BA4A-8DA7-9D2D-68534353D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C37F347-4D47-2591-6796-165193018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25EBEF5-3B30-E206-702C-5C554B9F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06AAD3C-0BE0-A184-63B7-4D8FD2437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5DFA5FA-FC62-490E-CC11-00CF0F24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3572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76607A-5C2A-46B1-AE9E-7D353F682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0404443-9BB9-4593-2B5B-64A657404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B4D4467-DDDA-EF9E-175E-852005006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BCE7253-1287-95E6-6DCB-123039745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833B9663-946B-7BF7-2531-79707EB4C4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245278C-98FC-3055-DF07-C162B815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A0A7F1D-7E0A-A8EC-4152-AC5AD04A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B1A58C5-1A3B-2275-842A-9A67B89D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5890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496674-B4C0-314C-D2C1-884EDD7D8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591D821-329A-374D-85A8-D008F36B6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7FFAA89-F321-5323-9D63-AFD6CB89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89CFA3C-AE91-F9F9-8BC7-390677007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5652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F0AE8E4-647D-DA75-AFF6-8A11669A4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D4C1C03-7C3E-D021-DB17-FF0BADDA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0449E29-DE85-6F65-AD52-57AA6082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9645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13E46C-209A-F25B-2E25-A58E25603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3057908-9729-0047-313F-7CB9A085A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631B9A5-1E9C-A39F-9FC5-69866E1CD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380AA85-5E9F-F569-093E-A450EFE9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E2B6997-858D-528E-2BB4-5631AE63C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9AE9A16-FE84-69B7-65EC-DA07CE1B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0110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4FA6D0-7332-189D-59E4-6C25B4FC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8D573FA-B7A8-0D7C-A791-11C6BDEC3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D3BC75E-5470-1CD0-7C2B-6B6C5FFBE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6980327-0ABE-037B-1AB4-F451FD343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F3989EF-C543-9115-C729-347DFE139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05EE714-664F-01ED-A2A9-88A9B3FA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1721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39D78F-EE74-887A-3F4B-BC6A98679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B1B22B1-05AF-3861-AFFA-F0A01B53A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83CD15D-41D7-3E22-B3B7-534DDD8F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63DB85E-EFC7-8C96-9AE9-3253C433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3BD7E9B-FC51-3352-7B80-DB16E9A6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2967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D0FF69B6-899B-0654-3D2D-C4E1CDB99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1934C13-A8FE-C9F4-6C10-5F9BC059D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CC50253-3C73-E6E3-B00D-D3AF35E89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F63E7DE-D1CD-F614-1659-88D58362B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AADF6D3-ABCB-2A87-F0EC-4485D0B72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4335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A45DD5A-BB0A-18EE-E874-0D99B9F99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1AC744E-2A41-8B9F-2030-6C5DD666A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BEA84BF-A57D-8457-3464-CA2F35A76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D69B1-10D7-4CD1-84F8-7D7D689F1ECE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E4C6D9A-AEAC-B686-CCCB-D10D52307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12CB624-4A28-7305-3DE2-F236B2B3A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B16A3-2DEF-4471-9C84-4AE2F83C333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9147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image" Target="../media/image1.png"/><Relationship Id="rId4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2.xml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2">
                <a:lumMod val="75000"/>
              </a:schemeClr>
            </a:gs>
            <a:gs pos="10000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8DE4A1-3993-1A8E-D710-7F61BF78EB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Népességszámlálás 2025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FBD12C6-41DB-9DD2-5B31-A7550F0D50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Készítette: Kovács Bence és Szabó Bence</a:t>
            </a:r>
          </a:p>
        </p:txBody>
      </p:sp>
    </p:spTree>
    <p:extLst>
      <p:ext uri="{BB962C8B-B14F-4D97-AF65-F5344CB8AC3E}">
        <p14:creationId xmlns:p14="http://schemas.microsoft.com/office/powerpoint/2010/main" val="3205327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2">
                <a:lumMod val="75000"/>
              </a:schemeClr>
            </a:gs>
            <a:gs pos="10000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F7BFC6-6E88-2323-65CD-395289ED7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27266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u-HU" sz="8000" dirty="0">
                <a:solidFill>
                  <a:schemeClr val="bg1"/>
                </a:solidFill>
                <a:latin typeface="Comic Sans MS" panose="030F0702030302020204" pitchFamily="66" charset="0"/>
              </a:rPr>
              <a:t>Főmenü</a:t>
            </a:r>
          </a:p>
        </p:txBody>
      </p:sp>
      <p:sp>
        <p:nvSpPr>
          <p:cNvPr id="8" name="Ellipszis 7">
            <a:hlinkClick r:id="rId2" action="ppaction://hlinksldjump"/>
            <a:extLst>
              <a:ext uri="{FF2B5EF4-FFF2-40B4-BE49-F238E27FC236}">
                <a16:creationId xmlns:a16="http://schemas.microsoft.com/office/drawing/2014/main" id="{BB4C1756-3CC6-65B2-23C9-F02D6B096B30}"/>
              </a:ext>
            </a:extLst>
          </p:cNvPr>
          <p:cNvSpPr/>
          <p:nvPr/>
        </p:nvSpPr>
        <p:spPr>
          <a:xfrm>
            <a:off x="7132949" y="1826252"/>
            <a:ext cx="3110845" cy="1527142"/>
          </a:xfrm>
          <a:prstGeom prst="ellipse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Használati utasítás</a:t>
            </a:r>
          </a:p>
        </p:txBody>
      </p:sp>
      <p:sp>
        <p:nvSpPr>
          <p:cNvPr id="13" name="Nyíl: balra mutató 12">
            <a:hlinkClick r:id="rId3" action="ppaction://hlinksldjump"/>
            <a:extLst>
              <a:ext uri="{FF2B5EF4-FFF2-40B4-BE49-F238E27FC236}">
                <a16:creationId xmlns:a16="http://schemas.microsoft.com/office/drawing/2014/main" id="{9E798FC5-ED3F-6FAD-32BD-81B5A5DC0ED8}"/>
              </a:ext>
            </a:extLst>
          </p:cNvPr>
          <p:cNvSpPr/>
          <p:nvPr/>
        </p:nvSpPr>
        <p:spPr>
          <a:xfrm>
            <a:off x="179109" y="5259773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Vissza</a:t>
            </a:r>
          </a:p>
        </p:txBody>
      </p:sp>
      <p:sp>
        <p:nvSpPr>
          <p:cNvPr id="15" name="Ellipszis 14">
            <a:hlinkClick r:id="rId4" action="ppaction://hlinksldjump"/>
            <a:extLst>
              <a:ext uri="{FF2B5EF4-FFF2-40B4-BE49-F238E27FC236}">
                <a16:creationId xmlns:a16="http://schemas.microsoft.com/office/drawing/2014/main" id="{4AA60A35-8299-EB3D-C761-6781B927E4FC}"/>
              </a:ext>
            </a:extLst>
          </p:cNvPr>
          <p:cNvSpPr/>
          <p:nvPr/>
        </p:nvSpPr>
        <p:spPr>
          <a:xfrm>
            <a:off x="1948206" y="1826251"/>
            <a:ext cx="3110845" cy="1527142"/>
          </a:xfrm>
          <a:prstGeom prst="ellipse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Program célja</a:t>
            </a:r>
          </a:p>
        </p:txBody>
      </p:sp>
      <p:sp>
        <p:nvSpPr>
          <p:cNvPr id="17" name="Ellipszis 16">
            <a:hlinkClick r:id="rId5" action="ppaction://hlinksldjump"/>
            <a:extLst>
              <a:ext uri="{FF2B5EF4-FFF2-40B4-BE49-F238E27FC236}">
                <a16:creationId xmlns:a16="http://schemas.microsoft.com/office/drawing/2014/main" id="{A6FBF401-3DDA-E1F6-DCC4-7260E7FDB6D2}"/>
              </a:ext>
            </a:extLst>
          </p:cNvPr>
          <p:cNvSpPr/>
          <p:nvPr/>
        </p:nvSpPr>
        <p:spPr>
          <a:xfrm>
            <a:off x="4540574" y="3504607"/>
            <a:ext cx="3110845" cy="1527142"/>
          </a:xfrm>
          <a:prstGeom prst="ellipse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Módok</a:t>
            </a:r>
          </a:p>
        </p:txBody>
      </p:sp>
    </p:spTree>
    <p:extLst>
      <p:ext uri="{BB962C8B-B14F-4D97-AF65-F5344CB8AC3E}">
        <p14:creationId xmlns:p14="http://schemas.microsoft.com/office/powerpoint/2010/main" val="2518008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10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5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75000"/>
              </a:schemeClr>
            </a:gs>
            <a:gs pos="100000">
              <a:schemeClr val="accent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2C8B13-F34E-9115-D1C8-17F85D81E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7200" dirty="0">
                <a:solidFill>
                  <a:schemeClr val="bg1"/>
                </a:solidFill>
                <a:latin typeface="Comic Sans MS" panose="030F0702030302020204" pitchFamily="66" charset="0"/>
              </a:rPr>
              <a:t>Program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5F123F2-818A-61B3-54CC-66731E69E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A program magyarországi települések népességi adatait kezeli és jeleníti meg.</a:t>
            </a:r>
          </a:p>
          <a:p>
            <a:pPr lvl="0"/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Megyék adatai alapján lehet keresni</a:t>
            </a:r>
          </a:p>
          <a:p>
            <a:pPr lvl="0"/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Településtípusok szerint lehet szűrni</a:t>
            </a:r>
          </a:p>
          <a:p>
            <a:pPr lvl="0"/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Megtekinthető a települések lakossága</a:t>
            </a:r>
          </a:p>
          <a:p>
            <a:pPr lvl="0"/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Az adatok egyszerűen és áttekinthetően böngészhető</a:t>
            </a:r>
          </a:p>
          <a:p>
            <a:endParaRPr lang="hu-HU" dirty="0"/>
          </a:p>
        </p:txBody>
      </p:sp>
      <p:sp>
        <p:nvSpPr>
          <p:cNvPr id="5" name="Nyíl: balra mutató 4">
            <a:hlinkClick r:id="rId2" action="ppaction://hlinksldjump"/>
            <a:extLst>
              <a:ext uri="{FF2B5EF4-FFF2-40B4-BE49-F238E27FC236}">
                <a16:creationId xmlns:a16="http://schemas.microsoft.com/office/drawing/2014/main" id="{44A34A61-8C75-8595-C01D-37C07BC95402}"/>
              </a:ext>
            </a:extLst>
          </p:cNvPr>
          <p:cNvSpPr/>
          <p:nvPr/>
        </p:nvSpPr>
        <p:spPr>
          <a:xfrm>
            <a:off x="4658412" y="5235707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Főmenü</a:t>
            </a:r>
          </a:p>
        </p:txBody>
      </p:sp>
    </p:spTree>
    <p:extLst>
      <p:ext uri="{BB962C8B-B14F-4D97-AF65-F5344CB8AC3E}">
        <p14:creationId xmlns:p14="http://schemas.microsoft.com/office/powerpoint/2010/main" val="2316057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2">
                <a:lumMod val="75000"/>
              </a:schemeClr>
            </a:gs>
            <a:gs pos="10000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EC9868E-A44A-1C66-D25F-6B4575FC5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7200" dirty="0">
                <a:solidFill>
                  <a:schemeClr val="bg1"/>
                </a:solidFill>
                <a:latin typeface="Comic Sans MS" panose="030F0702030302020204" pitchFamily="66" charset="0"/>
              </a:rPr>
              <a:t>Módok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DB7E39-4A37-4917-16CD-6F1783A53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3738" y="1726928"/>
            <a:ext cx="5732282" cy="4351338"/>
          </a:xfrm>
        </p:spPr>
        <p:txBody>
          <a:bodyPr/>
          <a:lstStyle/>
          <a:p>
            <a:pPr marL="0" indent="0">
              <a:buNone/>
            </a:pPr>
            <a:r>
              <a:rPr lang="hu-HU" sz="4000" b="1" dirty="0">
                <a:solidFill>
                  <a:schemeClr val="bg1"/>
                </a:solidFill>
                <a:latin typeface="Comic Sans MS" panose="030F0702030302020204" pitchFamily="66" charset="0"/>
              </a:rPr>
              <a:t>[1] Megye adatai</a:t>
            </a:r>
            <a:b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</a:b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Egy megadott megye településeinek és lakosságának adatait jeleníti meg.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9238688-E91F-D714-E185-5BD6D6101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38507" y="1723226"/>
            <a:ext cx="5377208" cy="4351338"/>
          </a:xfrm>
        </p:spPr>
        <p:txBody>
          <a:bodyPr/>
          <a:lstStyle/>
          <a:p>
            <a:pPr marL="0" indent="0">
              <a:buNone/>
            </a:pPr>
            <a:r>
              <a:rPr lang="hu-HU" sz="4000" b="1" dirty="0">
                <a:solidFill>
                  <a:schemeClr val="bg1"/>
                </a:solidFill>
                <a:latin typeface="Comic Sans MS" panose="030F0702030302020204" pitchFamily="66" charset="0"/>
              </a:rPr>
              <a:t>[2] Település típusok</a:t>
            </a:r>
            <a:b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</a:b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Településtípus alapján lehet kiválasztani és listázni a településeket.</a:t>
            </a:r>
          </a:p>
        </p:txBody>
      </p:sp>
      <p:pic>
        <p:nvPicPr>
          <p:cNvPr id="5" name="Kép 4" descr="1 number 1 - free Icon PNG, SVG">
            <a:extLst>
              <a:ext uri="{FF2B5EF4-FFF2-40B4-BE49-F238E27FC236}">
                <a16:creationId xmlns:a16="http://schemas.microsoft.com/office/drawing/2014/main" id="{367C28BA-952A-1C0D-8E33-50B971B24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946" y="4020184"/>
            <a:ext cx="2094322" cy="2094322"/>
          </a:xfrm>
          <a:prstGeom prst="rect">
            <a:avLst/>
          </a:prstGeom>
        </p:spPr>
      </p:pic>
      <p:pic>
        <p:nvPicPr>
          <p:cNvPr id="6" name="Kép 5" descr="2 number 2 - free Icon PNG, SVG">
            <a:extLst>
              <a:ext uri="{FF2B5EF4-FFF2-40B4-BE49-F238E27FC236}">
                <a16:creationId xmlns:a16="http://schemas.microsoft.com/office/drawing/2014/main" id="{0E696C25-4AF2-3656-84A4-1EF80D775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173" y="4020184"/>
            <a:ext cx="2094322" cy="2094322"/>
          </a:xfrm>
          <a:prstGeom prst="rect">
            <a:avLst/>
          </a:prstGeom>
        </p:spPr>
      </p:pic>
      <p:sp>
        <p:nvSpPr>
          <p:cNvPr id="8" name="Nyíl: balra mutató 7">
            <a:hlinkClick r:id="rId4" action="ppaction://hlinksldjump"/>
            <a:extLst>
              <a:ext uri="{FF2B5EF4-FFF2-40B4-BE49-F238E27FC236}">
                <a16:creationId xmlns:a16="http://schemas.microsoft.com/office/drawing/2014/main" id="{DEE5C419-DB29-68F4-8172-A355DD68F2F3}"/>
              </a:ext>
            </a:extLst>
          </p:cNvPr>
          <p:cNvSpPr/>
          <p:nvPr/>
        </p:nvSpPr>
        <p:spPr>
          <a:xfrm>
            <a:off x="253738" y="116952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Főmenü</a:t>
            </a:r>
          </a:p>
        </p:txBody>
      </p:sp>
    </p:spTree>
    <p:extLst>
      <p:ext uri="{BB962C8B-B14F-4D97-AF65-F5344CB8AC3E}">
        <p14:creationId xmlns:p14="http://schemas.microsoft.com/office/powerpoint/2010/main" val="3014645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75000"/>
              </a:schemeClr>
            </a:gs>
            <a:gs pos="100000">
              <a:schemeClr val="accent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3BF336-7C4A-A9C9-243B-388B565E8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Használati utasítás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C87D8B3-1E92-CCEC-0C70-8F754643E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93457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Program indítása után: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7FC54EE3-7A75-AF13-CF8A-853187F11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03" y="2314768"/>
            <a:ext cx="8220592" cy="2612375"/>
          </a:xfrm>
          <a:prstGeom prst="rect">
            <a:avLst/>
          </a:prstGeom>
        </p:spPr>
      </p:pic>
      <p:sp>
        <p:nvSpPr>
          <p:cNvPr id="7" name="Nyíl: balra mutató 6">
            <a:hlinkClick r:id="rId3" action="ppaction://hlinksldjump"/>
            <a:extLst>
              <a:ext uri="{FF2B5EF4-FFF2-40B4-BE49-F238E27FC236}">
                <a16:creationId xmlns:a16="http://schemas.microsoft.com/office/drawing/2014/main" id="{7F85F90A-CCC2-D047-D45A-E281B43D9892}"/>
              </a:ext>
            </a:extLst>
          </p:cNvPr>
          <p:cNvSpPr/>
          <p:nvPr/>
        </p:nvSpPr>
        <p:spPr>
          <a:xfrm>
            <a:off x="1985703" y="5223873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Főmenü</a:t>
            </a:r>
          </a:p>
        </p:txBody>
      </p:sp>
      <p:pic>
        <p:nvPicPr>
          <p:cNvPr id="6" name="Kép 5" descr="1 number 1 - free Icon PNG, SVG">
            <a:hlinkClick r:id="rId4" action="ppaction://hlinksldjump"/>
            <a:extLst>
              <a:ext uri="{FF2B5EF4-FFF2-40B4-BE49-F238E27FC236}">
                <a16:creationId xmlns:a16="http://schemas.microsoft.com/office/drawing/2014/main" id="{630B0114-B0EB-461D-184E-3F9D47408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5223872"/>
            <a:ext cx="1325563" cy="1325563"/>
          </a:xfrm>
          <a:prstGeom prst="rect">
            <a:avLst/>
          </a:prstGeom>
        </p:spPr>
      </p:pic>
      <p:pic>
        <p:nvPicPr>
          <p:cNvPr id="9" name="Kép 8" descr="2 number 2 - free Icon PNG, SVG">
            <a:hlinkClick r:id="rId6" action="ppaction://hlinksldjump"/>
            <a:extLst>
              <a:ext uri="{FF2B5EF4-FFF2-40B4-BE49-F238E27FC236}">
                <a16:creationId xmlns:a16="http://schemas.microsoft.com/office/drawing/2014/main" id="{4B248C65-C22C-D461-178F-3BA9E253E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6591" y="5223872"/>
            <a:ext cx="1325564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81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9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75000"/>
              </a:schemeClr>
            </a:gs>
            <a:gs pos="100000">
              <a:schemeClr val="accent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07957A-1FEE-7C38-4046-B2D517D8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610308-38D7-D67F-7830-2531E37C6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Használati utasítás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1C7F130-80E9-E563-EC9A-A41C8C2B4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44" y="1253331"/>
            <a:ext cx="1075991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hu-HU" b="1" dirty="0">
                <a:solidFill>
                  <a:srgbClr val="FF0000"/>
                </a:solidFill>
                <a:latin typeface="Comic Sans MS" panose="030F0702030302020204" pitchFamily="66" charset="0"/>
              </a:rPr>
              <a:t>1-es </a:t>
            </a: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opció kiválasztása után:</a:t>
            </a:r>
          </a:p>
          <a:p>
            <a:pPr marL="0" indent="0" algn="ctr">
              <a:buNone/>
            </a:pP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Írjunk be egy megye kódot (a nagy/kis karakter nem számít).</a:t>
            </a:r>
          </a:p>
          <a:p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B98515C-F5F1-5791-AA51-4B1717FAC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03" y="2314768"/>
            <a:ext cx="8220592" cy="2612375"/>
          </a:xfrm>
          <a:prstGeom prst="rect">
            <a:avLst/>
          </a:prstGeom>
        </p:spPr>
      </p:pic>
      <p:sp>
        <p:nvSpPr>
          <p:cNvPr id="7" name="Nyíl: balra mutató 6">
            <a:hlinkClick r:id="rId3" action="ppaction://hlinksldjump"/>
            <a:extLst>
              <a:ext uri="{FF2B5EF4-FFF2-40B4-BE49-F238E27FC236}">
                <a16:creationId xmlns:a16="http://schemas.microsoft.com/office/drawing/2014/main" id="{CDFA5E02-9963-5213-3209-8E2DD2965BD7}"/>
              </a:ext>
            </a:extLst>
          </p:cNvPr>
          <p:cNvSpPr/>
          <p:nvPr/>
        </p:nvSpPr>
        <p:spPr>
          <a:xfrm>
            <a:off x="1985703" y="5223873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Főmenü</a:t>
            </a:r>
          </a:p>
        </p:txBody>
      </p:sp>
      <p:sp>
        <p:nvSpPr>
          <p:cNvPr id="10" name="Nyíl: balra mutató 9">
            <a:hlinkClick r:id="rId4" action="ppaction://hlinksldjump"/>
            <a:extLst>
              <a:ext uri="{FF2B5EF4-FFF2-40B4-BE49-F238E27FC236}">
                <a16:creationId xmlns:a16="http://schemas.microsoft.com/office/drawing/2014/main" id="{82B771B0-99C0-90D6-7656-BDC8C429DD44}"/>
              </a:ext>
            </a:extLst>
          </p:cNvPr>
          <p:cNvSpPr/>
          <p:nvPr/>
        </p:nvSpPr>
        <p:spPr>
          <a:xfrm flipH="1">
            <a:off x="7331124" y="5223872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Tovább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9C194BA-A7C1-29E3-D599-F59C2DC26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703" y="2314767"/>
            <a:ext cx="8220592" cy="261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184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10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75000"/>
              </a:schemeClr>
            </a:gs>
            <a:gs pos="100000">
              <a:schemeClr val="accent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15D4D-C3F6-7828-A305-C291C615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2D6DAC-BB78-80EF-D5C9-24DA1343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7650"/>
            <a:ext cx="10515600" cy="1325563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Használati utasítás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AE667A-9FD1-A14F-AE82-AF932E004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131" y="1253331"/>
            <a:ext cx="11117736" cy="4351338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Megye kód begépelése után:</a:t>
            </a:r>
          </a:p>
          <a:p>
            <a:pPr marL="0" indent="0" algn="ctr">
              <a:buNone/>
            </a:pP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A megye adatai megjelennek és visszadob a program a főmenübe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01ACD36-DE2D-DCC7-4AAA-A535C7F07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03" y="2314768"/>
            <a:ext cx="8220592" cy="2612375"/>
          </a:xfrm>
          <a:prstGeom prst="rect">
            <a:avLst/>
          </a:prstGeom>
        </p:spPr>
      </p:pic>
      <p:sp>
        <p:nvSpPr>
          <p:cNvPr id="7" name="Nyíl: balra mutató 6">
            <a:hlinkClick r:id="rId3" action="ppaction://hlinksldjump"/>
            <a:extLst>
              <a:ext uri="{FF2B5EF4-FFF2-40B4-BE49-F238E27FC236}">
                <a16:creationId xmlns:a16="http://schemas.microsoft.com/office/drawing/2014/main" id="{290E238E-AA31-7AB1-F429-FAAB5E753641}"/>
              </a:ext>
            </a:extLst>
          </p:cNvPr>
          <p:cNvSpPr/>
          <p:nvPr/>
        </p:nvSpPr>
        <p:spPr>
          <a:xfrm>
            <a:off x="2107235" y="5266422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Főmenü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6A94A27-57EB-C6C5-FE9D-727D1D3D0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703" y="2314767"/>
            <a:ext cx="8220592" cy="261237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627A5A4E-9472-7B7F-8CD2-C44297E9D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703" y="2343224"/>
            <a:ext cx="8220592" cy="261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82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75000"/>
              </a:schemeClr>
            </a:gs>
            <a:gs pos="100000">
              <a:schemeClr val="accent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11DE8-274D-BCB6-0DAD-197C8A6CB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8C2B89-42C4-768B-B664-C129E02D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7650"/>
            <a:ext cx="10515600" cy="1325563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Használati utasítás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ACF073-3567-C179-F7C5-C743EA60C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131" y="1253331"/>
            <a:ext cx="11117736" cy="4351338"/>
          </a:xfrm>
        </p:spPr>
        <p:txBody>
          <a:bodyPr/>
          <a:lstStyle/>
          <a:p>
            <a:pPr marL="0" indent="0" algn="ctr">
              <a:buNone/>
            </a:pPr>
            <a:r>
              <a:rPr lang="hu-HU" b="1" dirty="0">
                <a:solidFill>
                  <a:srgbClr val="FF0000"/>
                </a:solidFill>
                <a:latin typeface="Comic Sans MS" panose="030F0702030302020204" pitchFamily="66" charset="0"/>
              </a:rPr>
              <a:t>2-es</a:t>
            </a: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 opció kiválasztása után:</a:t>
            </a:r>
          </a:p>
          <a:p>
            <a:pPr marL="0" indent="0" algn="ctr">
              <a:buNone/>
            </a:pP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Gépeljük be az adott településtípus előtti számot (1-6).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E45F571-6AD2-FC1B-4678-3171E4EF8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03" y="2314768"/>
            <a:ext cx="8220592" cy="2612375"/>
          </a:xfrm>
          <a:prstGeom prst="rect">
            <a:avLst/>
          </a:prstGeom>
        </p:spPr>
      </p:pic>
      <p:sp>
        <p:nvSpPr>
          <p:cNvPr id="7" name="Nyíl: balra mutató 6">
            <a:hlinkClick r:id="rId3" action="ppaction://hlinksldjump"/>
            <a:extLst>
              <a:ext uri="{FF2B5EF4-FFF2-40B4-BE49-F238E27FC236}">
                <a16:creationId xmlns:a16="http://schemas.microsoft.com/office/drawing/2014/main" id="{48517B9C-C6AA-B38E-AC09-F25E4AFE6D2B}"/>
              </a:ext>
            </a:extLst>
          </p:cNvPr>
          <p:cNvSpPr/>
          <p:nvPr/>
        </p:nvSpPr>
        <p:spPr>
          <a:xfrm>
            <a:off x="1985703" y="5223873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Főmenü</a:t>
            </a:r>
          </a:p>
        </p:txBody>
      </p:sp>
      <p:sp>
        <p:nvSpPr>
          <p:cNvPr id="10" name="Nyíl: balra mutató 9">
            <a:hlinkClick r:id="rId4" action="ppaction://hlinksldjump"/>
            <a:extLst>
              <a:ext uri="{FF2B5EF4-FFF2-40B4-BE49-F238E27FC236}">
                <a16:creationId xmlns:a16="http://schemas.microsoft.com/office/drawing/2014/main" id="{077E1122-9C58-31AE-51D0-E86FCECFA335}"/>
              </a:ext>
            </a:extLst>
          </p:cNvPr>
          <p:cNvSpPr/>
          <p:nvPr/>
        </p:nvSpPr>
        <p:spPr>
          <a:xfrm flipH="1">
            <a:off x="7331124" y="5223872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Tovább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6B24FD2-41CE-2C13-F519-96F3E054C3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703" y="2314767"/>
            <a:ext cx="8220592" cy="261237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70ECB2AE-95CE-9DCA-775A-057B67AC8D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5703" y="2343224"/>
            <a:ext cx="8220592" cy="2612376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E2F39682-D270-AAE2-8B13-CA6FE9FE54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6853" y="2314766"/>
            <a:ext cx="8219442" cy="263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3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75000"/>
              </a:schemeClr>
            </a:gs>
            <a:gs pos="100000">
              <a:schemeClr val="accent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49EA9-F0E6-B3BE-15EB-BDBD61A3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8A90F2-03EC-C39D-1208-96911DF6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7650"/>
            <a:ext cx="10515600" cy="1325563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Használati utasítás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F6553F-BA0F-25A2-3837-CFA663CC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131" y="1253331"/>
            <a:ext cx="11117736" cy="4351338"/>
          </a:xfrm>
        </p:spPr>
        <p:txBody>
          <a:bodyPr/>
          <a:lstStyle/>
          <a:p>
            <a:pPr marL="0" indent="0" algn="ctr">
              <a:buNone/>
            </a:pP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Pl.: 4-es opció(város) kiválasztása után:</a:t>
            </a:r>
          </a:p>
          <a:p>
            <a:pPr marL="0" indent="0" algn="ctr">
              <a:buNone/>
            </a:pP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Kilistázza a városokat és lakosságszámukat</a:t>
            </a:r>
          </a:p>
          <a:p>
            <a:pPr algn="ctr"/>
            <a:endParaRPr lang="hu-HU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EA4933E-2973-33A8-9796-8540BA8DF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03" y="2314768"/>
            <a:ext cx="8220592" cy="2612375"/>
          </a:xfrm>
          <a:prstGeom prst="rect">
            <a:avLst/>
          </a:prstGeom>
        </p:spPr>
      </p:pic>
      <p:sp>
        <p:nvSpPr>
          <p:cNvPr id="7" name="Nyíl: balra mutató 6">
            <a:hlinkClick r:id="rId3" action="ppaction://hlinksldjump"/>
            <a:extLst>
              <a:ext uri="{FF2B5EF4-FFF2-40B4-BE49-F238E27FC236}">
                <a16:creationId xmlns:a16="http://schemas.microsoft.com/office/drawing/2014/main" id="{02A0A98D-313A-7512-7C23-6CAE3EE9C220}"/>
              </a:ext>
            </a:extLst>
          </p:cNvPr>
          <p:cNvSpPr/>
          <p:nvPr/>
        </p:nvSpPr>
        <p:spPr>
          <a:xfrm>
            <a:off x="1985703" y="5223873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Főmenü</a:t>
            </a:r>
          </a:p>
        </p:txBody>
      </p:sp>
      <p:sp>
        <p:nvSpPr>
          <p:cNvPr id="10" name="Nyíl: balra mutató 9">
            <a:hlinkClick r:id="rId4" action="ppaction://hlinksldjump"/>
            <a:extLst>
              <a:ext uri="{FF2B5EF4-FFF2-40B4-BE49-F238E27FC236}">
                <a16:creationId xmlns:a16="http://schemas.microsoft.com/office/drawing/2014/main" id="{A809207D-AC30-5AD8-3C73-D1D10F5A0F58}"/>
              </a:ext>
            </a:extLst>
          </p:cNvPr>
          <p:cNvSpPr/>
          <p:nvPr/>
        </p:nvSpPr>
        <p:spPr>
          <a:xfrm flipH="1">
            <a:off x="7331124" y="5223872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Tovább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E8F4132-5DEF-6EAA-0EE0-FFC728C04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703" y="2314767"/>
            <a:ext cx="8220592" cy="261237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11B611F-2854-F4CE-D110-FF66007EFB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5703" y="2343224"/>
            <a:ext cx="8220592" cy="2612376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5D25865-97C8-ACB0-2457-0836FE7EE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6853" y="2314766"/>
            <a:ext cx="8219442" cy="2639362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4DCC9FD-BA60-227A-3C71-B4C0E9069B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6278" y="2314766"/>
            <a:ext cx="8219442" cy="263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4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100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75000"/>
              </a:schemeClr>
            </a:gs>
            <a:gs pos="100000">
              <a:schemeClr val="accent2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B1F37-100E-DC91-DDA3-579D9D356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FA08D1-C27B-BAD3-965E-692C027C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82242"/>
            <a:ext cx="10515600" cy="1325563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Használati utasítás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DED3B9-EDD3-1892-18E9-DF20E1337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131" y="872534"/>
            <a:ext cx="11117736" cy="4351338"/>
          </a:xfrm>
        </p:spPr>
        <p:txBody>
          <a:bodyPr/>
          <a:lstStyle/>
          <a:p>
            <a:pPr marL="0" indent="0" algn="ctr">
              <a:buNone/>
            </a:pPr>
            <a:r>
              <a:rPr lang="hu-HU" b="1" dirty="0">
                <a:solidFill>
                  <a:srgbClr val="FF0000"/>
                </a:solidFill>
                <a:latin typeface="Comic Sans MS" panose="030F0702030302020204" pitchFamily="66" charset="0"/>
              </a:rPr>
              <a:t>N</a:t>
            </a: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-karakter begépelése után </a:t>
            </a:r>
            <a:r>
              <a:rPr lang="hu-HU" b="1" dirty="0">
                <a:solidFill>
                  <a:srgbClr val="FF0000"/>
                </a:solidFill>
                <a:latin typeface="Comic Sans MS" panose="030F0702030302020204" pitchFamily="66" charset="0"/>
              </a:rPr>
              <a:t>lapozni</a:t>
            </a: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 lehet.</a:t>
            </a:r>
          </a:p>
          <a:p>
            <a:pPr marL="0" indent="0" algn="ctr">
              <a:buNone/>
            </a:pPr>
            <a:r>
              <a:rPr lang="hu-HU" b="1" dirty="0">
                <a:solidFill>
                  <a:srgbClr val="FF0000"/>
                </a:solidFill>
                <a:latin typeface="Comic Sans MS" panose="030F0702030302020204" pitchFamily="66" charset="0"/>
              </a:rPr>
              <a:t>B</a:t>
            </a: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-karakter begépelése után </a:t>
            </a:r>
            <a:r>
              <a:rPr lang="hu-HU" b="1" dirty="0">
                <a:solidFill>
                  <a:srgbClr val="FF0000"/>
                </a:solidFill>
                <a:latin typeface="Comic Sans MS" panose="030F0702030302020204" pitchFamily="66" charset="0"/>
              </a:rPr>
              <a:t>vissza</a:t>
            </a: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 lehet lapozni.</a:t>
            </a:r>
          </a:p>
          <a:p>
            <a:pPr marL="0" indent="0" algn="ctr">
              <a:buNone/>
            </a:pPr>
            <a:r>
              <a:rPr lang="hu-HU" b="1" dirty="0">
                <a:solidFill>
                  <a:srgbClr val="FF0000"/>
                </a:solidFill>
                <a:latin typeface="Comic Sans MS" panose="030F0702030302020204" pitchFamily="66" charset="0"/>
              </a:rPr>
              <a:t>Q</a:t>
            </a: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-karakter begépelése után a program visszatér a </a:t>
            </a:r>
            <a:r>
              <a:rPr lang="hu-HU" b="1" dirty="0">
                <a:solidFill>
                  <a:srgbClr val="FF0000"/>
                </a:solidFill>
                <a:latin typeface="Comic Sans MS" panose="030F0702030302020204" pitchFamily="66" charset="0"/>
              </a:rPr>
              <a:t>főmenübe</a:t>
            </a:r>
            <a:r>
              <a:rPr lang="hu-HU" dirty="0">
                <a:solidFill>
                  <a:schemeClr val="bg1"/>
                </a:solidFill>
                <a:latin typeface="Comic Sans MS" panose="030F0702030302020204" pitchFamily="66" charset="0"/>
              </a:rPr>
              <a:t>.</a:t>
            </a:r>
          </a:p>
          <a:p>
            <a:pPr algn="ctr"/>
            <a:endParaRPr lang="hu-HU" dirty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algn="ctr"/>
            <a:endParaRPr lang="hu-HU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0E9D85F-95E5-4E1C-8A62-499818D93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703" y="2314768"/>
            <a:ext cx="8220592" cy="2612375"/>
          </a:xfrm>
          <a:prstGeom prst="rect">
            <a:avLst/>
          </a:prstGeom>
        </p:spPr>
      </p:pic>
      <p:sp>
        <p:nvSpPr>
          <p:cNvPr id="7" name="Nyíl: balra mutató 6">
            <a:hlinkClick r:id="rId3" action="ppaction://hlinksldjump"/>
            <a:extLst>
              <a:ext uri="{FF2B5EF4-FFF2-40B4-BE49-F238E27FC236}">
                <a16:creationId xmlns:a16="http://schemas.microsoft.com/office/drawing/2014/main" id="{A461F5D0-7BE7-BB9D-7ADE-67CE2E7F4276}"/>
              </a:ext>
            </a:extLst>
          </p:cNvPr>
          <p:cNvSpPr/>
          <p:nvPr/>
        </p:nvSpPr>
        <p:spPr>
          <a:xfrm>
            <a:off x="1985703" y="5223873"/>
            <a:ext cx="2875175" cy="1325563"/>
          </a:xfrm>
          <a:prstGeom prst="leftArrow">
            <a:avLst/>
          </a:prstGeom>
          <a:solidFill>
            <a:schemeClr val="bg1"/>
          </a:solidFill>
          <a:ln w="63500">
            <a:gradFill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Főmenü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88B69BE-2DB5-D5A5-B0F0-5E8E05135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703" y="2314767"/>
            <a:ext cx="8220592" cy="2612375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484CD6EF-7C16-7E1A-869E-80092F76A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5703" y="2343224"/>
            <a:ext cx="8220592" cy="2612376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5537B0A9-7B69-BC8A-091E-E40E4AA011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6853" y="2314766"/>
            <a:ext cx="8219442" cy="2639362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99707F7D-11F0-5DD9-21D9-6A83484977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5703" y="2343223"/>
            <a:ext cx="8219442" cy="263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5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65000">
        <p:fade/>
      </p:transition>
    </mc:Choice>
    <mc:Fallback>
      <p:transition spd="med" advClick="0" advTm="6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Szélesvásznú</PresentationFormat>
  <Paragraphs>45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Comic Sans MS</vt:lpstr>
      <vt:lpstr>Office-téma</vt:lpstr>
      <vt:lpstr>Népességszámlálás 2025</vt:lpstr>
      <vt:lpstr>Főmenü</vt:lpstr>
      <vt:lpstr>Program célja</vt:lpstr>
      <vt:lpstr>Módok</vt:lpstr>
      <vt:lpstr>Használati utasítás</vt:lpstr>
      <vt:lpstr>Használati utasítás</vt:lpstr>
      <vt:lpstr>Használati utasítás</vt:lpstr>
      <vt:lpstr>Használati utasítás</vt:lpstr>
      <vt:lpstr>Használati utasítás</vt:lpstr>
      <vt:lpstr>Használati utasítás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Népességszámlálás 2025</dc:title>
  <dc:creator>Bence Szabó</dc:creator>
  <cp:lastModifiedBy>Szabó Bence</cp:lastModifiedBy>
  <cp:revision>7</cp:revision>
  <dcterms:created xsi:type="dcterms:W3CDTF">2026-09-15T17:20:39Z</dcterms:created>
  <dcterms:modified xsi:type="dcterms:W3CDTF">2026-09-18T11:00:31Z</dcterms:modified>
</cp:coreProperties>
</file>