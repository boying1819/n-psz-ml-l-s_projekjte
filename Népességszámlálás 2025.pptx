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2" d="100"/>
          <a:sy n="102" d="100"/>
        </p:scale>
        <p:origin x="138" y="1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AC3F991-B231-408F-6E13-EE3BB12459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CA45511E-141C-E268-8335-D0B8EF0E10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67B93EBB-42EB-7181-6F2D-C2E31D0EB6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D69B1-10D7-4CD1-84F8-7D7D689F1ECE}" type="datetimeFigureOut">
              <a:rPr lang="hu-HU" smtClean="0"/>
              <a:t>2026. 09. 15.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374DC6EC-C3CE-964D-AEAB-712A187E63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FF1BA2E9-8293-D1AF-9E12-1CAF40274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9B16A3-2DEF-4471-9C84-4AE2F83C333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3080924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AA769E2-3BF0-CBB2-7D0D-8183403B92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69CF791F-C5B2-3F81-2284-CF1E5EB9EE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5EBB36BB-7045-BB25-811D-470D89B721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D69B1-10D7-4CD1-84F8-7D7D689F1ECE}" type="datetimeFigureOut">
              <a:rPr lang="hu-HU" smtClean="0"/>
              <a:t>2026. 09. 15.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228110BC-F1A7-0990-91C5-C65E14133D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F7CE8559-9BF4-6772-B5C6-B23AEB1B5A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9B16A3-2DEF-4471-9C84-4AE2F83C333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5064035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4135DE7-BFA4-D2FC-FE2B-4F6D5BE848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8011A846-B72E-A8D3-CEA4-67171C11F8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1A788C5C-824E-3198-5215-8B816A13AB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D69B1-10D7-4CD1-84F8-7D7D689F1ECE}" type="datetimeFigureOut">
              <a:rPr lang="hu-HU" smtClean="0"/>
              <a:t>2026. 09. 15.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DDE68685-D4C2-AD07-9724-6273E054EF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80F6E1B3-0BCF-60BF-B008-1A82E860CD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9B16A3-2DEF-4471-9C84-4AE2F83C333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4331394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00EADEA-2080-9F09-5EB3-75CFE4AFFA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7738F924-BA4A-8DA7-9D2D-68534353DFF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BC37F347-4D47-2591-6796-165193018F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625EBEF5-3B30-E206-702C-5C554B9F52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D69B1-10D7-4CD1-84F8-7D7D689F1ECE}" type="datetimeFigureOut">
              <a:rPr lang="hu-HU" smtClean="0"/>
              <a:t>2026. 09. 15.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606AAD3C-0BE0-A184-63B7-4D8FD24374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35DFA5FA-FC62-490E-CC11-00CF0F2425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9B16A3-2DEF-4471-9C84-4AE2F83C333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9335724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C76607A-5C2A-46B1-AE9E-7D353F6823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B0404443-9BB9-4593-2B5B-64A6574042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2B4D4467-DDDA-EF9E-175E-852005006C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CBCE7253-1287-95E6-6DCB-12303974562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833B9663-946B-7BF7-2531-79707EB4C40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7" name="Dátum helye 6">
            <a:extLst>
              <a:ext uri="{FF2B5EF4-FFF2-40B4-BE49-F238E27FC236}">
                <a16:creationId xmlns:a16="http://schemas.microsoft.com/office/drawing/2014/main" id="{D245278C-98FC-3055-DF07-C162B8159A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D69B1-10D7-4CD1-84F8-7D7D689F1ECE}" type="datetimeFigureOut">
              <a:rPr lang="hu-HU" smtClean="0"/>
              <a:t>2026. 09. 15.</a:t>
            </a:fld>
            <a:endParaRPr lang="hu-HU"/>
          </a:p>
        </p:txBody>
      </p:sp>
      <p:sp>
        <p:nvSpPr>
          <p:cNvPr id="8" name="Élőláb helye 7">
            <a:extLst>
              <a:ext uri="{FF2B5EF4-FFF2-40B4-BE49-F238E27FC236}">
                <a16:creationId xmlns:a16="http://schemas.microsoft.com/office/drawing/2014/main" id="{8A0A7F1D-7E0A-A8EC-4152-AC5AD04AF6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Dia számának helye 8">
            <a:extLst>
              <a:ext uri="{FF2B5EF4-FFF2-40B4-BE49-F238E27FC236}">
                <a16:creationId xmlns:a16="http://schemas.microsoft.com/office/drawing/2014/main" id="{7B1A58C5-1A3B-2275-842A-9A67B89DB2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9B16A3-2DEF-4471-9C84-4AE2F83C333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9058906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D496674-B4C0-314C-D2C1-884EDD7D85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C591D821-329A-374D-85A8-D008F36B68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D69B1-10D7-4CD1-84F8-7D7D689F1ECE}" type="datetimeFigureOut">
              <a:rPr lang="hu-HU" smtClean="0"/>
              <a:t>2026. 09. 15.</a:t>
            </a:fld>
            <a:endParaRPr lang="hu-HU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67FFAA89-F321-5323-9D63-AFD6CB89C1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389CFA3C-AE91-F9F9-8BC7-3906770071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9B16A3-2DEF-4471-9C84-4AE2F83C333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5056520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>
            <a:extLst>
              <a:ext uri="{FF2B5EF4-FFF2-40B4-BE49-F238E27FC236}">
                <a16:creationId xmlns:a16="http://schemas.microsoft.com/office/drawing/2014/main" id="{2F0AE8E4-647D-DA75-AFF6-8A11669A4F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D69B1-10D7-4CD1-84F8-7D7D689F1ECE}" type="datetimeFigureOut">
              <a:rPr lang="hu-HU" smtClean="0"/>
              <a:t>2026. 09. 15.</a:t>
            </a:fld>
            <a:endParaRPr lang="hu-HU"/>
          </a:p>
        </p:txBody>
      </p:sp>
      <p:sp>
        <p:nvSpPr>
          <p:cNvPr id="3" name="Élőláb helye 2">
            <a:extLst>
              <a:ext uri="{FF2B5EF4-FFF2-40B4-BE49-F238E27FC236}">
                <a16:creationId xmlns:a16="http://schemas.microsoft.com/office/drawing/2014/main" id="{AD4C1C03-7C3E-D021-DB17-FF0BADDA21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D0449E29-DE85-6F65-AD52-57AA6082BE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9B16A3-2DEF-4471-9C84-4AE2F83C333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1696455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113E46C-209A-F25B-2E25-A58E256031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13057908-9729-0047-313F-7CB9A085A1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E631B9A5-1E9C-A39F-9FC5-69866E1CD0E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0380AA85-5E9F-F569-093E-A450EFE9FA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D69B1-10D7-4CD1-84F8-7D7D689F1ECE}" type="datetimeFigureOut">
              <a:rPr lang="hu-HU" smtClean="0"/>
              <a:t>2026. 09. 15.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0E2B6997-858D-528E-2BB4-5631AE63C7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D9AE9A16-FE84-69B7-65EC-DA07CE1B4C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9B16A3-2DEF-4471-9C84-4AE2F83C333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1901101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14FA6D0-7332-189D-59E4-6C25B4FCDC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Kép helye 2">
            <a:extLst>
              <a:ext uri="{FF2B5EF4-FFF2-40B4-BE49-F238E27FC236}">
                <a16:creationId xmlns:a16="http://schemas.microsoft.com/office/drawing/2014/main" id="{18D573FA-B7A8-0D7C-A791-11C6BDEC3C4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9D3BC75E-5470-1CD0-7C2B-6B6C5FFBE4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96980327-0ABE-037B-1AB4-F451FD343F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D69B1-10D7-4CD1-84F8-7D7D689F1ECE}" type="datetimeFigureOut">
              <a:rPr lang="hu-HU" smtClean="0"/>
              <a:t>2026. 09. 15.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5F3989EF-C543-9115-C729-347DFE1396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005EE714-664F-01ED-A2A9-88A9B3FA65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9B16A3-2DEF-4471-9C84-4AE2F83C333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9217219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D39D78F-EE74-887A-3F4B-BC6A986793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9B1B22B1-05AF-3861-AFFA-F0A01B53A56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983CD15D-41D7-3E22-B3B7-534DDD8F8F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D69B1-10D7-4CD1-84F8-7D7D689F1ECE}" type="datetimeFigureOut">
              <a:rPr lang="hu-HU" smtClean="0"/>
              <a:t>2026. 09. 15.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763DB85E-EFC7-8C96-9AE9-3253C4337F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73BD7E9B-FC51-3352-7B80-DB16E9A62D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9B16A3-2DEF-4471-9C84-4AE2F83C333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0029678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>
            <a:extLst>
              <a:ext uri="{FF2B5EF4-FFF2-40B4-BE49-F238E27FC236}">
                <a16:creationId xmlns:a16="http://schemas.microsoft.com/office/drawing/2014/main" id="{D0FF69B6-899B-0654-3D2D-C4E1CDB9983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B1934C13-A8FE-C9F4-6C10-5F9BC059D2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8CC50253-3C73-E6E3-B00D-D3AF35E89A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D69B1-10D7-4CD1-84F8-7D7D689F1ECE}" type="datetimeFigureOut">
              <a:rPr lang="hu-HU" smtClean="0"/>
              <a:t>2026. 09. 15.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0F63E7DE-D1CD-F614-1659-88D58362BD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5AADF6D3-ABCB-2A87-F0EC-4485D0B726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9B16A3-2DEF-4471-9C84-4AE2F83C333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3743353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>
            <a:extLst>
              <a:ext uri="{FF2B5EF4-FFF2-40B4-BE49-F238E27FC236}">
                <a16:creationId xmlns:a16="http://schemas.microsoft.com/office/drawing/2014/main" id="{5A45DD5A-BB0A-18EE-E874-0D99B9F99F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21AC744E-2A41-8B9F-2030-6C5DD666AC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4BEA84BF-A57D-8457-3464-CA2F35A76B0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D7D69B1-10D7-4CD1-84F8-7D7D689F1ECE}" type="datetimeFigureOut">
              <a:rPr lang="hu-HU" smtClean="0"/>
              <a:t>2026. 09. 15.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0E4C6D9A-AEAC-B686-CCCB-D10D52307A3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812CB624-4A28-7305-3DE2-F236B2B3A6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49B16A3-2DEF-4471-9C84-4AE2F83C333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7691470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Relationship Id="rId4" Type="http://schemas.openxmlformats.org/officeDocument/2006/relationships/slide" Target="slide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0">
              <a:schemeClr val="accent2">
                <a:lumMod val="75000"/>
              </a:schemeClr>
            </a:gs>
            <a:gs pos="100000">
              <a:schemeClr val="accent4">
                <a:lumMod val="75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68DE4A1-3993-1A8E-D710-7F61BF78EBC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  <a:latin typeface="Comic Sans MS" panose="030F0702030302020204" pitchFamily="66" charset="0"/>
              </a:rPr>
              <a:t>Népességszámlálás 2025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DFBD12C6-41DB-9DD2-5B31-A7550F0D506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  <a:latin typeface="Comic Sans MS" panose="030F0702030302020204" pitchFamily="66" charset="0"/>
              </a:rPr>
              <a:t>Készítette: Kovács Bence és Szabó Bence</a:t>
            </a:r>
          </a:p>
        </p:txBody>
      </p:sp>
    </p:spTree>
    <p:extLst>
      <p:ext uri="{BB962C8B-B14F-4D97-AF65-F5344CB8AC3E}">
        <p14:creationId xmlns:p14="http://schemas.microsoft.com/office/powerpoint/2010/main" val="32053273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0">
              <a:schemeClr val="accent2">
                <a:lumMod val="75000"/>
              </a:schemeClr>
            </a:gs>
            <a:gs pos="100000">
              <a:schemeClr val="accent4">
                <a:lumMod val="75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8F7BFC6-6E88-2323-65CD-395289ED76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7" y="272664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hu-HU" sz="8000" dirty="0">
                <a:solidFill>
                  <a:schemeClr val="bg1"/>
                </a:solidFill>
                <a:latin typeface="Comic Sans MS" panose="030F0702030302020204" pitchFamily="66" charset="0"/>
              </a:rPr>
              <a:t>Főmenü</a:t>
            </a:r>
          </a:p>
        </p:txBody>
      </p:sp>
      <p:sp>
        <p:nvSpPr>
          <p:cNvPr id="8" name="Ellipszis 7">
            <a:extLst>
              <a:ext uri="{FF2B5EF4-FFF2-40B4-BE49-F238E27FC236}">
                <a16:creationId xmlns:a16="http://schemas.microsoft.com/office/drawing/2014/main" id="{BB4C1756-3CC6-65B2-23C9-F02D6B096B30}"/>
              </a:ext>
            </a:extLst>
          </p:cNvPr>
          <p:cNvSpPr/>
          <p:nvPr/>
        </p:nvSpPr>
        <p:spPr>
          <a:xfrm>
            <a:off x="7132949" y="1826252"/>
            <a:ext cx="3110845" cy="1527142"/>
          </a:xfrm>
          <a:prstGeom prst="ellipse">
            <a:avLst/>
          </a:prstGeom>
          <a:solidFill>
            <a:schemeClr val="bg1"/>
          </a:solidFill>
          <a:ln w="63500">
            <a:gradFill>
              <a:gsLst>
                <a:gs pos="0">
                  <a:schemeClr val="accent4">
                    <a:lumMod val="75000"/>
                  </a:schemeClr>
                </a:gs>
                <a:gs pos="100000">
                  <a:schemeClr val="accent2">
                    <a:lumMod val="5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3200" dirty="0">
                <a:solidFill>
                  <a:schemeClr val="tx1"/>
                </a:solidFill>
                <a:latin typeface="Comic Sans MS" panose="030F0702030302020204" pitchFamily="66" charset="0"/>
              </a:rPr>
              <a:t>Használati utasítás</a:t>
            </a:r>
          </a:p>
        </p:txBody>
      </p:sp>
      <p:sp>
        <p:nvSpPr>
          <p:cNvPr id="13" name="Nyíl: balra mutató 12">
            <a:hlinkClick r:id="rId2" action="ppaction://hlinksldjump"/>
            <a:extLst>
              <a:ext uri="{FF2B5EF4-FFF2-40B4-BE49-F238E27FC236}">
                <a16:creationId xmlns:a16="http://schemas.microsoft.com/office/drawing/2014/main" id="{9E798FC5-ED3F-6FAD-32BD-81B5A5DC0ED8}"/>
              </a:ext>
            </a:extLst>
          </p:cNvPr>
          <p:cNvSpPr/>
          <p:nvPr/>
        </p:nvSpPr>
        <p:spPr>
          <a:xfrm>
            <a:off x="179109" y="5259773"/>
            <a:ext cx="2875175" cy="1325563"/>
          </a:xfrm>
          <a:prstGeom prst="leftArrow">
            <a:avLst/>
          </a:prstGeom>
          <a:solidFill>
            <a:schemeClr val="bg1"/>
          </a:solidFill>
          <a:ln w="63500">
            <a:gradFill>
              <a:gsLst>
                <a:gs pos="0">
                  <a:schemeClr val="accent4">
                    <a:lumMod val="75000"/>
                  </a:schemeClr>
                </a:gs>
                <a:gs pos="100000">
                  <a:schemeClr val="accent2">
                    <a:lumMod val="5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3200" dirty="0">
                <a:solidFill>
                  <a:schemeClr val="tx1"/>
                </a:solidFill>
                <a:latin typeface="Comic Sans MS" panose="030F0702030302020204" pitchFamily="66" charset="0"/>
              </a:rPr>
              <a:t>Vissza</a:t>
            </a:r>
          </a:p>
        </p:txBody>
      </p:sp>
      <p:sp>
        <p:nvSpPr>
          <p:cNvPr id="15" name="Ellipszis 14">
            <a:extLst>
              <a:ext uri="{FF2B5EF4-FFF2-40B4-BE49-F238E27FC236}">
                <a16:creationId xmlns:a16="http://schemas.microsoft.com/office/drawing/2014/main" id="{4AA60A35-8299-EB3D-C761-6781B927E4FC}"/>
              </a:ext>
            </a:extLst>
          </p:cNvPr>
          <p:cNvSpPr/>
          <p:nvPr/>
        </p:nvSpPr>
        <p:spPr>
          <a:xfrm>
            <a:off x="1948206" y="1826251"/>
            <a:ext cx="3110845" cy="1527142"/>
          </a:xfrm>
          <a:prstGeom prst="ellipse">
            <a:avLst/>
          </a:prstGeom>
          <a:solidFill>
            <a:schemeClr val="bg1"/>
          </a:solidFill>
          <a:ln w="63500">
            <a:gradFill>
              <a:gsLst>
                <a:gs pos="0">
                  <a:schemeClr val="accent4">
                    <a:lumMod val="75000"/>
                  </a:schemeClr>
                </a:gs>
                <a:gs pos="100000">
                  <a:schemeClr val="accent2">
                    <a:lumMod val="5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3200" dirty="0">
                <a:solidFill>
                  <a:schemeClr val="tx1"/>
                </a:solidFill>
                <a:latin typeface="Comic Sans MS" panose="030F0702030302020204" pitchFamily="66" charset="0"/>
              </a:rPr>
              <a:t>Program célja</a:t>
            </a:r>
          </a:p>
        </p:txBody>
      </p:sp>
      <p:sp>
        <p:nvSpPr>
          <p:cNvPr id="17" name="Ellipszis 16">
            <a:extLst>
              <a:ext uri="{FF2B5EF4-FFF2-40B4-BE49-F238E27FC236}">
                <a16:creationId xmlns:a16="http://schemas.microsoft.com/office/drawing/2014/main" id="{A6FBF401-3DDA-E1F6-DCC4-7260E7FDB6D2}"/>
              </a:ext>
            </a:extLst>
          </p:cNvPr>
          <p:cNvSpPr/>
          <p:nvPr/>
        </p:nvSpPr>
        <p:spPr>
          <a:xfrm>
            <a:off x="4540574" y="3504607"/>
            <a:ext cx="3110845" cy="1527142"/>
          </a:xfrm>
          <a:prstGeom prst="ellipse">
            <a:avLst/>
          </a:prstGeom>
          <a:solidFill>
            <a:schemeClr val="bg1"/>
          </a:solidFill>
          <a:ln w="63500">
            <a:gradFill>
              <a:gsLst>
                <a:gs pos="0">
                  <a:schemeClr val="accent4">
                    <a:lumMod val="75000"/>
                  </a:schemeClr>
                </a:gs>
                <a:gs pos="100000">
                  <a:schemeClr val="accent2">
                    <a:lumMod val="5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3200" dirty="0">
                <a:solidFill>
                  <a:schemeClr val="tx1"/>
                </a:solidFill>
                <a:latin typeface="Comic Sans MS" panose="030F0702030302020204" pitchFamily="66" charset="0"/>
              </a:rPr>
              <a:t>Módok</a:t>
            </a:r>
          </a:p>
        </p:txBody>
      </p:sp>
    </p:spTree>
    <p:extLst>
      <p:ext uri="{BB962C8B-B14F-4D97-AF65-F5344CB8AC3E}">
        <p14:creationId xmlns:p14="http://schemas.microsoft.com/office/powerpoint/2010/main" val="25180089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4">
                <a:lumMod val="75000"/>
              </a:schemeClr>
            </a:gs>
            <a:gs pos="100000">
              <a:schemeClr val="accent2">
                <a:lumMod val="5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A2C8B13-F34E-9115-D1C8-17F85D81E0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sz="7200" dirty="0">
                <a:solidFill>
                  <a:schemeClr val="bg1"/>
                </a:solidFill>
                <a:latin typeface="Comic Sans MS" panose="030F0702030302020204" pitchFamily="66" charset="0"/>
              </a:rPr>
              <a:t>Program célja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95F123F2-818A-61B3-54CC-66731E69EA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  <a:latin typeface="Comic Sans MS" panose="030F0702030302020204" pitchFamily="66" charset="0"/>
              </a:rPr>
              <a:t>A program magyarországi települések népességi adatait kezeli és jeleníti meg.</a:t>
            </a:r>
          </a:p>
          <a:p>
            <a:pPr lvl="0"/>
            <a:r>
              <a:rPr lang="hu-HU" dirty="0">
                <a:solidFill>
                  <a:schemeClr val="bg1"/>
                </a:solidFill>
                <a:latin typeface="Comic Sans MS" panose="030F0702030302020204" pitchFamily="66" charset="0"/>
              </a:rPr>
              <a:t>Megyék adatai alapján lehet keresni</a:t>
            </a:r>
          </a:p>
          <a:p>
            <a:pPr lvl="0"/>
            <a:r>
              <a:rPr lang="hu-HU" dirty="0">
                <a:solidFill>
                  <a:schemeClr val="bg1"/>
                </a:solidFill>
                <a:latin typeface="Comic Sans MS" panose="030F0702030302020204" pitchFamily="66" charset="0"/>
              </a:rPr>
              <a:t>Településtípusok szerint lehet szűrni</a:t>
            </a:r>
          </a:p>
          <a:p>
            <a:pPr lvl="0"/>
            <a:r>
              <a:rPr lang="hu-HU" dirty="0">
                <a:solidFill>
                  <a:schemeClr val="bg1"/>
                </a:solidFill>
                <a:latin typeface="Comic Sans MS" panose="030F0702030302020204" pitchFamily="66" charset="0"/>
              </a:rPr>
              <a:t>Megtekinthető a települések lakossága</a:t>
            </a:r>
          </a:p>
          <a:p>
            <a:pPr lvl="0"/>
            <a:r>
              <a:rPr lang="hu-HU" dirty="0">
                <a:solidFill>
                  <a:schemeClr val="bg1"/>
                </a:solidFill>
                <a:latin typeface="Comic Sans MS" panose="030F0702030302020204" pitchFamily="66" charset="0"/>
              </a:rPr>
              <a:t>Az adatok egyszerűen és áttekinthetően böngészhető</a:t>
            </a:r>
          </a:p>
          <a:p>
            <a:endParaRPr lang="hu-HU" dirty="0"/>
          </a:p>
        </p:txBody>
      </p:sp>
      <p:sp>
        <p:nvSpPr>
          <p:cNvPr id="5" name="Nyíl: balra mutató 4">
            <a:hlinkClick r:id="rId2" action="ppaction://hlinksldjump"/>
            <a:extLst>
              <a:ext uri="{FF2B5EF4-FFF2-40B4-BE49-F238E27FC236}">
                <a16:creationId xmlns:a16="http://schemas.microsoft.com/office/drawing/2014/main" id="{44A34A61-8C75-8595-C01D-37C07BC95402}"/>
              </a:ext>
            </a:extLst>
          </p:cNvPr>
          <p:cNvSpPr/>
          <p:nvPr/>
        </p:nvSpPr>
        <p:spPr>
          <a:xfrm>
            <a:off x="4658412" y="5235707"/>
            <a:ext cx="2875175" cy="1325563"/>
          </a:xfrm>
          <a:prstGeom prst="leftArrow">
            <a:avLst/>
          </a:prstGeom>
          <a:solidFill>
            <a:schemeClr val="bg1"/>
          </a:solidFill>
          <a:ln w="63500">
            <a:gradFill>
              <a:gsLst>
                <a:gs pos="0">
                  <a:schemeClr val="accent4">
                    <a:lumMod val="75000"/>
                  </a:schemeClr>
                </a:gs>
                <a:gs pos="100000">
                  <a:schemeClr val="accent2">
                    <a:lumMod val="5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3200" dirty="0">
                <a:solidFill>
                  <a:schemeClr val="tx1"/>
                </a:solidFill>
                <a:latin typeface="Comic Sans MS" panose="030F0702030302020204" pitchFamily="66" charset="0"/>
              </a:rPr>
              <a:t>Főmenü</a:t>
            </a:r>
          </a:p>
        </p:txBody>
      </p:sp>
    </p:spTree>
    <p:extLst>
      <p:ext uri="{BB962C8B-B14F-4D97-AF65-F5344CB8AC3E}">
        <p14:creationId xmlns:p14="http://schemas.microsoft.com/office/powerpoint/2010/main" val="23160571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0">
              <a:schemeClr val="accent2">
                <a:lumMod val="75000"/>
              </a:schemeClr>
            </a:gs>
            <a:gs pos="100000">
              <a:schemeClr val="accent4">
                <a:lumMod val="75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EC9868E-A44A-1C66-D25F-6B4575FC5A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hu-HU" sz="7200" dirty="0">
                <a:solidFill>
                  <a:schemeClr val="bg1"/>
                </a:solidFill>
                <a:latin typeface="Comic Sans MS" panose="030F0702030302020204" pitchFamily="66" charset="0"/>
              </a:rPr>
              <a:t>Módok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73DB7E39-4A37-4917-16CD-6F1783A5323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253738" y="1726928"/>
            <a:ext cx="5732282" cy="4351338"/>
          </a:xfrm>
        </p:spPr>
        <p:txBody>
          <a:bodyPr/>
          <a:lstStyle/>
          <a:p>
            <a:pPr marL="0" indent="0">
              <a:buNone/>
            </a:pPr>
            <a:r>
              <a:rPr lang="hu-HU" sz="4000" b="1" dirty="0">
                <a:solidFill>
                  <a:schemeClr val="bg1"/>
                </a:solidFill>
                <a:latin typeface="Comic Sans MS" panose="030F0702030302020204" pitchFamily="66" charset="0"/>
              </a:rPr>
              <a:t>[1] Megye adatai</a:t>
            </a:r>
            <a:br>
              <a:rPr lang="hu-HU" dirty="0">
                <a:solidFill>
                  <a:schemeClr val="bg1"/>
                </a:solidFill>
                <a:latin typeface="Comic Sans MS" panose="030F0702030302020204" pitchFamily="66" charset="0"/>
              </a:rPr>
            </a:br>
            <a:r>
              <a:rPr lang="hu-HU" dirty="0">
                <a:solidFill>
                  <a:schemeClr val="bg1"/>
                </a:solidFill>
                <a:latin typeface="Comic Sans MS" panose="030F0702030302020204" pitchFamily="66" charset="0"/>
              </a:rPr>
              <a:t>Egy megadott megye településeinek és lakosságának adatait jeleníti meg.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99238688-E91F-D714-E185-5BD6D6101E3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438507" y="1723226"/>
            <a:ext cx="5377208" cy="4351338"/>
          </a:xfrm>
        </p:spPr>
        <p:txBody>
          <a:bodyPr/>
          <a:lstStyle/>
          <a:p>
            <a:pPr marL="0" indent="0">
              <a:buNone/>
            </a:pPr>
            <a:r>
              <a:rPr lang="hu-HU" sz="4000" b="1" dirty="0">
                <a:solidFill>
                  <a:schemeClr val="bg1"/>
                </a:solidFill>
                <a:latin typeface="Comic Sans MS" panose="030F0702030302020204" pitchFamily="66" charset="0"/>
              </a:rPr>
              <a:t>[2] Település típusok</a:t>
            </a:r>
            <a:br>
              <a:rPr lang="hu-HU" dirty="0">
                <a:solidFill>
                  <a:schemeClr val="bg1"/>
                </a:solidFill>
                <a:latin typeface="Comic Sans MS" panose="030F0702030302020204" pitchFamily="66" charset="0"/>
              </a:rPr>
            </a:br>
            <a:r>
              <a:rPr lang="hu-HU" dirty="0">
                <a:solidFill>
                  <a:schemeClr val="bg1"/>
                </a:solidFill>
                <a:latin typeface="Comic Sans MS" panose="030F0702030302020204" pitchFamily="66" charset="0"/>
              </a:rPr>
              <a:t>Településtípus alapján lehet kiválasztani és listázni a településeket.</a:t>
            </a:r>
          </a:p>
        </p:txBody>
      </p:sp>
      <p:pic>
        <p:nvPicPr>
          <p:cNvPr id="5" name="Kép 4" descr="1 number 1 - free Icon PNG, SVG">
            <a:extLst>
              <a:ext uri="{FF2B5EF4-FFF2-40B4-BE49-F238E27FC236}">
                <a16:creationId xmlns:a16="http://schemas.microsoft.com/office/drawing/2014/main" id="{367C28BA-952A-1C0D-8E33-50B971B24E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2946" y="4020184"/>
            <a:ext cx="2094322" cy="2094322"/>
          </a:xfrm>
          <a:prstGeom prst="rect">
            <a:avLst/>
          </a:prstGeom>
        </p:spPr>
      </p:pic>
      <p:pic>
        <p:nvPicPr>
          <p:cNvPr id="6" name="Kép 5" descr="2 number 2 - free Icon PNG, SVG">
            <a:extLst>
              <a:ext uri="{FF2B5EF4-FFF2-40B4-BE49-F238E27FC236}">
                <a16:creationId xmlns:a16="http://schemas.microsoft.com/office/drawing/2014/main" id="{0E696C25-4AF2-3656-84A4-1EF80D775B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43173" y="4020184"/>
            <a:ext cx="2094322" cy="2094322"/>
          </a:xfrm>
          <a:prstGeom prst="rect">
            <a:avLst/>
          </a:prstGeom>
        </p:spPr>
      </p:pic>
      <p:sp>
        <p:nvSpPr>
          <p:cNvPr id="8" name="Nyíl: balra mutató 7">
            <a:hlinkClick r:id="rId4" action="ppaction://hlinksldjump"/>
            <a:extLst>
              <a:ext uri="{FF2B5EF4-FFF2-40B4-BE49-F238E27FC236}">
                <a16:creationId xmlns:a16="http://schemas.microsoft.com/office/drawing/2014/main" id="{DEE5C419-DB29-68F4-8172-A355DD68F2F3}"/>
              </a:ext>
            </a:extLst>
          </p:cNvPr>
          <p:cNvSpPr/>
          <p:nvPr/>
        </p:nvSpPr>
        <p:spPr>
          <a:xfrm>
            <a:off x="253738" y="116952"/>
            <a:ext cx="2875175" cy="1325563"/>
          </a:xfrm>
          <a:prstGeom prst="leftArrow">
            <a:avLst/>
          </a:prstGeom>
          <a:solidFill>
            <a:schemeClr val="bg1"/>
          </a:solidFill>
          <a:ln w="63500">
            <a:gradFill>
              <a:gsLst>
                <a:gs pos="0">
                  <a:schemeClr val="accent4">
                    <a:lumMod val="75000"/>
                  </a:schemeClr>
                </a:gs>
                <a:gs pos="100000">
                  <a:schemeClr val="accent2">
                    <a:lumMod val="5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3200" dirty="0">
                <a:solidFill>
                  <a:schemeClr val="tx1"/>
                </a:solidFill>
                <a:latin typeface="Comic Sans MS" panose="030F0702030302020204" pitchFamily="66" charset="0"/>
              </a:rPr>
              <a:t>Főmenü</a:t>
            </a:r>
          </a:p>
        </p:txBody>
      </p:sp>
    </p:spTree>
    <p:extLst>
      <p:ext uri="{BB962C8B-B14F-4D97-AF65-F5344CB8AC3E}">
        <p14:creationId xmlns:p14="http://schemas.microsoft.com/office/powerpoint/2010/main" val="30146452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4">
                <a:lumMod val="75000"/>
              </a:schemeClr>
            </a:gs>
            <a:gs pos="100000">
              <a:schemeClr val="accent2">
                <a:lumMod val="5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B3BF336-7C4A-A9C9-243B-388B565E8E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0"/>
            <a:ext cx="10515600" cy="1325563"/>
          </a:xfrm>
        </p:spPr>
        <p:txBody>
          <a:bodyPr/>
          <a:lstStyle/>
          <a:p>
            <a:pPr algn="ctr"/>
            <a:r>
              <a:rPr lang="hu-HU" dirty="0">
                <a:solidFill>
                  <a:schemeClr val="bg1"/>
                </a:solidFill>
                <a:latin typeface="Comic Sans MS" panose="030F0702030302020204" pitchFamily="66" charset="0"/>
              </a:rPr>
              <a:t>Használati utasítás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2C87D8B3-1E92-CCEC-0C70-8F754643E7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593457"/>
            <a:ext cx="10515600" cy="4351338"/>
          </a:xfrm>
        </p:spPr>
        <p:txBody>
          <a:bodyPr/>
          <a:lstStyle/>
          <a:p>
            <a:pPr algn="ctr"/>
            <a:r>
              <a:rPr lang="hu-HU" dirty="0">
                <a:solidFill>
                  <a:schemeClr val="bg1"/>
                </a:solidFill>
                <a:latin typeface="Comic Sans MS" panose="030F0702030302020204" pitchFamily="66" charset="0"/>
              </a:rPr>
              <a:t>Program indítása után:</a:t>
            </a:r>
          </a:p>
          <a:p>
            <a:endParaRPr lang="hu-HU" dirty="0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7FC54EE3-7A75-AF13-CF8A-853187F11B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5703" y="2314768"/>
            <a:ext cx="8220592" cy="2612375"/>
          </a:xfrm>
          <a:prstGeom prst="rect">
            <a:avLst/>
          </a:prstGeom>
        </p:spPr>
      </p:pic>
      <p:sp>
        <p:nvSpPr>
          <p:cNvPr id="7" name="Nyíl: balra mutató 6">
            <a:hlinkClick r:id="rId3" action="ppaction://hlinksldjump"/>
            <a:extLst>
              <a:ext uri="{FF2B5EF4-FFF2-40B4-BE49-F238E27FC236}">
                <a16:creationId xmlns:a16="http://schemas.microsoft.com/office/drawing/2014/main" id="{7F85F90A-CCC2-D047-D45A-E281B43D9892}"/>
              </a:ext>
            </a:extLst>
          </p:cNvPr>
          <p:cNvSpPr/>
          <p:nvPr/>
        </p:nvSpPr>
        <p:spPr>
          <a:xfrm>
            <a:off x="1985703" y="5223873"/>
            <a:ext cx="2875175" cy="1325563"/>
          </a:xfrm>
          <a:prstGeom prst="leftArrow">
            <a:avLst/>
          </a:prstGeom>
          <a:solidFill>
            <a:schemeClr val="bg1"/>
          </a:solidFill>
          <a:ln w="63500">
            <a:gradFill>
              <a:gsLst>
                <a:gs pos="0">
                  <a:schemeClr val="accent4">
                    <a:lumMod val="75000"/>
                  </a:schemeClr>
                </a:gs>
                <a:gs pos="100000">
                  <a:schemeClr val="accent2">
                    <a:lumMod val="5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3200" dirty="0">
                <a:solidFill>
                  <a:schemeClr val="tx1"/>
                </a:solidFill>
                <a:latin typeface="Comic Sans MS" panose="030F0702030302020204" pitchFamily="66" charset="0"/>
              </a:rPr>
              <a:t>Főmenü</a:t>
            </a:r>
          </a:p>
        </p:txBody>
      </p:sp>
      <p:sp>
        <p:nvSpPr>
          <p:cNvPr id="10" name="Nyíl: balra mutató 9">
            <a:hlinkClick r:id="" action="ppaction://hlinkshowjump?jump=nextslide"/>
            <a:extLst>
              <a:ext uri="{FF2B5EF4-FFF2-40B4-BE49-F238E27FC236}">
                <a16:creationId xmlns:a16="http://schemas.microsoft.com/office/drawing/2014/main" id="{F0BC8774-D6F2-F269-64CA-F1612FAC9FE8}"/>
              </a:ext>
            </a:extLst>
          </p:cNvPr>
          <p:cNvSpPr/>
          <p:nvPr/>
        </p:nvSpPr>
        <p:spPr>
          <a:xfrm flipH="1">
            <a:off x="7331124" y="5223872"/>
            <a:ext cx="2875175" cy="1325563"/>
          </a:xfrm>
          <a:prstGeom prst="leftArrow">
            <a:avLst/>
          </a:prstGeom>
          <a:solidFill>
            <a:schemeClr val="bg1"/>
          </a:solidFill>
          <a:ln w="63500">
            <a:gradFill>
              <a:gsLst>
                <a:gs pos="0">
                  <a:schemeClr val="accent4">
                    <a:lumMod val="75000"/>
                  </a:schemeClr>
                </a:gs>
                <a:gs pos="100000">
                  <a:schemeClr val="accent2">
                    <a:lumMod val="5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 anchorCtr="0"/>
          <a:lstStyle/>
          <a:p>
            <a:pPr algn="ctr"/>
            <a:r>
              <a:rPr lang="hu-HU" sz="3200" dirty="0">
                <a:solidFill>
                  <a:schemeClr val="tx1"/>
                </a:solidFill>
                <a:latin typeface="Comic Sans MS" panose="030F0702030302020204" pitchFamily="66" charset="0"/>
              </a:rPr>
              <a:t>Tovább</a:t>
            </a:r>
          </a:p>
        </p:txBody>
      </p:sp>
    </p:spTree>
    <p:extLst>
      <p:ext uri="{BB962C8B-B14F-4D97-AF65-F5344CB8AC3E}">
        <p14:creationId xmlns:p14="http://schemas.microsoft.com/office/powerpoint/2010/main" val="40138819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4">
                <a:lumMod val="75000"/>
              </a:schemeClr>
            </a:gs>
            <a:gs pos="100000">
              <a:schemeClr val="accent2">
                <a:lumMod val="50000"/>
              </a:schemeClr>
            </a:gs>
          </a:gsLst>
          <a:lin ang="5400000" scaled="1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C07957A-1FEE-7C38-4046-B2D517D83F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5610308-38D7-D67F-7830-2531E37C66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0"/>
            <a:ext cx="10515600" cy="1325563"/>
          </a:xfrm>
        </p:spPr>
        <p:txBody>
          <a:bodyPr/>
          <a:lstStyle/>
          <a:p>
            <a:pPr algn="ctr"/>
            <a:r>
              <a:rPr lang="hu-HU" dirty="0">
                <a:solidFill>
                  <a:schemeClr val="bg1"/>
                </a:solidFill>
                <a:latin typeface="Comic Sans MS" panose="030F0702030302020204" pitchFamily="66" charset="0"/>
              </a:rPr>
              <a:t>Használati utasítás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41C7F130-80E9-E563-EC9A-A41C8C2B40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6044" y="1253331"/>
            <a:ext cx="10759910" cy="4351338"/>
          </a:xfrm>
        </p:spPr>
        <p:txBody>
          <a:bodyPr/>
          <a:lstStyle/>
          <a:p>
            <a:pPr algn="ctr"/>
            <a:r>
              <a:rPr lang="hu-HU" dirty="0">
                <a:solidFill>
                  <a:schemeClr val="bg1"/>
                </a:solidFill>
                <a:latin typeface="Comic Sans MS" panose="030F0702030302020204" pitchFamily="66" charset="0"/>
              </a:rPr>
              <a:t>1-es opció kiválasztása után:</a:t>
            </a:r>
          </a:p>
          <a:p>
            <a:pPr algn="ctr"/>
            <a:r>
              <a:rPr lang="hu-HU" dirty="0">
                <a:solidFill>
                  <a:schemeClr val="bg1"/>
                </a:solidFill>
                <a:latin typeface="Comic Sans MS" panose="030F0702030302020204" pitchFamily="66" charset="0"/>
              </a:rPr>
              <a:t>Írjunk be egy megye kódot (a nagy/kis karakter nem számít).</a:t>
            </a:r>
          </a:p>
          <a:p>
            <a:endParaRPr lang="hu-HU" dirty="0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DB98515C-F5F1-5791-AA51-4B1717FACC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5703" y="2314768"/>
            <a:ext cx="8220592" cy="2612375"/>
          </a:xfrm>
          <a:prstGeom prst="rect">
            <a:avLst/>
          </a:prstGeom>
        </p:spPr>
      </p:pic>
      <p:sp>
        <p:nvSpPr>
          <p:cNvPr id="7" name="Nyíl: balra mutató 6">
            <a:hlinkClick r:id="rId3" action="ppaction://hlinksldjump"/>
            <a:extLst>
              <a:ext uri="{FF2B5EF4-FFF2-40B4-BE49-F238E27FC236}">
                <a16:creationId xmlns:a16="http://schemas.microsoft.com/office/drawing/2014/main" id="{CDFA5E02-9963-5213-3209-8E2DD2965BD7}"/>
              </a:ext>
            </a:extLst>
          </p:cNvPr>
          <p:cNvSpPr/>
          <p:nvPr/>
        </p:nvSpPr>
        <p:spPr>
          <a:xfrm>
            <a:off x="1985703" y="5223873"/>
            <a:ext cx="2875175" cy="1325563"/>
          </a:xfrm>
          <a:prstGeom prst="leftArrow">
            <a:avLst/>
          </a:prstGeom>
          <a:solidFill>
            <a:schemeClr val="bg1"/>
          </a:solidFill>
          <a:ln w="63500">
            <a:gradFill>
              <a:gsLst>
                <a:gs pos="0">
                  <a:schemeClr val="accent4">
                    <a:lumMod val="75000"/>
                  </a:schemeClr>
                </a:gs>
                <a:gs pos="100000">
                  <a:schemeClr val="accent2">
                    <a:lumMod val="5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3200" dirty="0">
                <a:solidFill>
                  <a:schemeClr val="tx1"/>
                </a:solidFill>
                <a:latin typeface="Comic Sans MS" panose="030F0702030302020204" pitchFamily="66" charset="0"/>
              </a:rPr>
              <a:t>Főmenü</a:t>
            </a:r>
          </a:p>
        </p:txBody>
      </p:sp>
      <p:sp>
        <p:nvSpPr>
          <p:cNvPr id="10" name="Nyíl: balra mutató 9">
            <a:hlinkClick r:id="" action="ppaction://hlinkshowjump?jump=nextslide"/>
            <a:extLst>
              <a:ext uri="{FF2B5EF4-FFF2-40B4-BE49-F238E27FC236}">
                <a16:creationId xmlns:a16="http://schemas.microsoft.com/office/drawing/2014/main" id="{82B771B0-99C0-90D6-7656-BDC8C429DD44}"/>
              </a:ext>
            </a:extLst>
          </p:cNvPr>
          <p:cNvSpPr/>
          <p:nvPr/>
        </p:nvSpPr>
        <p:spPr>
          <a:xfrm flipH="1">
            <a:off x="7331124" y="5223872"/>
            <a:ext cx="2875175" cy="1325563"/>
          </a:xfrm>
          <a:prstGeom prst="leftArrow">
            <a:avLst/>
          </a:prstGeom>
          <a:solidFill>
            <a:schemeClr val="bg1"/>
          </a:solidFill>
          <a:ln w="63500">
            <a:gradFill>
              <a:gsLst>
                <a:gs pos="0">
                  <a:schemeClr val="accent4">
                    <a:lumMod val="75000"/>
                  </a:schemeClr>
                </a:gs>
                <a:gs pos="100000">
                  <a:schemeClr val="accent2">
                    <a:lumMod val="5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 anchorCtr="0"/>
          <a:lstStyle/>
          <a:p>
            <a:pPr algn="ctr"/>
            <a:r>
              <a:rPr lang="hu-HU" sz="3200" dirty="0">
                <a:solidFill>
                  <a:schemeClr val="tx1"/>
                </a:solidFill>
                <a:latin typeface="Comic Sans MS" panose="030F0702030302020204" pitchFamily="66" charset="0"/>
              </a:rPr>
              <a:t>Tovább</a:t>
            </a:r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29C194BA-A7C1-29E3-D599-F59C2DC2664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85703" y="2314767"/>
            <a:ext cx="8220592" cy="2612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61846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4">
                <a:lumMod val="75000"/>
              </a:schemeClr>
            </a:gs>
            <a:gs pos="100000">
              <a:schemeClr val="accent2">
                <a:lumMod val="50000"/>
              </a:schemeClr>
            </a:gs>
          </a:gsLst>
          <a:lin ang="5400000" scaled="1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FC15D4D-C3F6-7828-A305-C291C615C7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52D6DAC-BB78-80EF-D5C9-24DA1343B3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-17650"/>
            <a:ext cx="10515600" cy="1325563"/>
          </a:xfrm>
        </p:spPr>
        <p:txBody>
          <a:bodyPr/>
          <a:lstStyle/>
          <a:p>
            <a:pPr algn="ctr"/>
            <a:r>
              <a:rPr lang="hu-HU" dirty="0">
                <a:solidFill>
                  <a:schemeClr val="bg1"/>
                </a:solidFill>
                <a:latin typeface="Comic Sans MS" panose="030F0702030302020204" pitchFamily="66" charset="0"/>
              </a:rPr>
              <a:t>Használati utasítás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ABAE667A-9FD1-A14F-AE82-AF932E0044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7131" y="1253331"/>
            <a:ext cx="11117736" cy="4351338"/>
          </a:xfrm>
        </p:spPr>
        <p:txBody>
          <a:bodyPr/>
          <a:lstStyle/>
          <a:p>
            <a:pPr algn="ctr"/>
            <a:r>
              <a:rPr lang="hu-HU" dirty="0">
                <a:solidFill>
                  <a:schemeClr val="bg1"/>
                </a:solidFill>
                <a:latin typeface="Comic Sans MS" panose="030F0702030302020204" pitchFamily="66" charset="0"/>
              </a:rPr>
              <a:t>Megye kód begépelése után:</a:t>
            </a:r>
          </a:p>
          <a:p>
            <a:pPr algn="ctr"/>
            <a:r>
              <a:rPr lang="hu-HU" dirty="0">
                <a:solidFill>
                  <a:schemeClr val="bg1"/>
                </a:solidFill>
                <a:latin typeface="Comic Sans MS" panose="030F0702030302020204" pitchFamily="66" charset="0"/>
              </a:rPr>
              <a:t>A megye adatai megjelennek és visszadob a program a főmenübe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A01ACD36-DE2D-DCC7-4AAA-A535C7F072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5703" y="2314768"/>
            <a:ext cx="8220592" cy="2612375"/>
          </a:xfrm>
          <a:prstGeom prst="rect">
            <a:avLst/>
          </a:prstGeom>
        </p:spPr>
      </p:pic>
      <p:sp>
        <p:nvSpPr>
          <p:cNvPr id="7" name="Nyíl: balra mutató 6">
            <a:hlinkClick r:id="rId3" action="ppaction://hlinksldjump"/>
            <a:extLst>
              <a:ext uri="{FF2B5EF4-FFF2-40B4-BE49-F238E27FC236}">
                <a16:creationId xmlns:a16="http://schemas.microsoft.com/office/drawing/2014/main" id="{290E238E-AA31-7AB1-F429-FAAB5E753641}"/>
              </a:ext>
            </a:extLst>
          </p:cNvPr>
          <p:cNvSpPr/>
          <p:nvPr/>
        </p:nvSpPr>
        <p:spPr>
          <a:xfrm>
            <a:off x="1985703" y="5223873"/>
            <a:ext cx="2875175" cy="1325563"/>
          </a:xfrm>
          <a:prstGeom prst="leftArrow">
            <a:avLst/>
          </a:prstGeom>
          <a:solidFill>
            <a:schemeClr val="bg1"/>
          </a:solidFill>
          <a:ln w="63500">
            <a:gradFill>
              <a:gsLst>
                <a:gs pos="0">
                  <a:schemeClr val="accent4">
                    <a:lumMod val="75000"/>
                  </a:schemeClr>
                </a:gs>
                <a:gs pos="100000">
                  <a:schemeClr val="accent2">
                    <a:lumMod val="5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3200" dirty="0">
                <a:solidFill>
                  <a:schemeClr val="tx1"/>
                </a:solidFill>
                <a:latin typeface="Comic Sans MS" panose="030F0702030302020204" pitchFamily="66" charset="0"/>
              </a:rPr>
              <a:t>Főmenü</a:t>
            </a:r>
          </a:p>
        </p:txBody>
      </p:sp>
      <p:sp>
        <p:nvSpPr>
          <p:cNvPr id="10" name="Nyíl: balra mutató 9">
            <a:hlinkClick r:id="" action="ppaction://hlinkshowjump?jump=nextslide"/>
            <a:extLst>
              <a:ext uri="{FF2B5EF4-FFF2-40B4-BE49-F238E27FC236}">
                <a16:creationId xmlns:a16="http://schemas.microsoft.com/office/drawing/2014/main" id="{81E929AB-DA17-CA54-634B-FC08846CF7E0}"/>
              </a:ext>
            </a:extLst>
          </p:cNvPr>
          <p:cNvSpPr/>
          <p:nvPr/>
        </p:nvSpPr>
        <p:spPr>
          <a:xfrm flipH="1">
            <a:off x="7331124" y="5223872"/>
            <a:ext cx="2875175" cy="1325563"/>
          </a:xfrm>
          <a:prstGeom prst="leftArrow">
            <a:avLst/>
          </a:prstGeom>
          <a:solidFill>
            <a:schemeClr val="bg1"/>
          </a:solidFill>
          <a:ln w="63500">
            <a:gradFill>
              <a:gsLst>
                <a:gs pos="0">
                  <a:schemeClr val="accent4">
                    <a:lumMod val="75000"/>
                  </a:schemeClr>
                </a:gs>
                <a:gs pos="100000">
                  <a:schemeClr val="accent2">
                    <a:lumMod val="5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 anchorCtr="0"/>
          <a:lstStyle/>
          <a:p>
            <a:pPr algn="ctr"/>
            <a:r>
              <a:rPr lang="hu-HU" sz="3200" dirty="0">
                <a:solidFill>
                  <a:schemeClr val="tx1"/>
                </a:solidFill>
                <a:latin typeface="Comic Sans MS" panose="030F0702030302020204" pitchFamily="66" charset="0"/>
              </a:rPr>
              <a:t>Tovább</a:t>
            </a:r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26A94A27-57EB-C6C5-FE9D-727D1D3D0A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85703" y="2314767"/>
            <a:ext cx="8220592" cy="2612375"/>
          </a:xfrm>
          <a:prstGeom prst="rect">
            <a:avLst/>
          </a:prstGeom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627A5A4E-9472-7B7F-8CD2-C44297E9D9A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85703" y="2343224"/>
            <a:ext cx="8220592" cy="26123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02825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</TotalTime>
  <Words>132</Words>
  <Application>Microsoft Office PowerPoint</Application>
  <PresentationFormat>Szélesvásznú</PresentationFormat>
  <Paragraphs>32</Paragraphs>
  <Slides>7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4</vt:i4>
      </vt:variant>
      <vt:variant>
        <vt:lpstr>Téma</vt:lpstr>
      </vt:variant>
      <vt:variant>
        <vt:i4>1</vt:i4>
      </vt:variant>
      <vt:variant>
        <vt:lpstr>Diacímek</vt:lpstr>
      </vt:variant>
      <vt:variant>
        <vt:i4>7</vt:i4>
      </vt:variant>
    </vt:vector>
  </HeadingPairs>
  <TitlesOfParts>
    <vt:vector size="12" baseType="lpstr">
      <vt:lpstr>Arial</vt:lpstr>
      <vt:lpstr>Calibri</vt:lpstr>
      <vt:lpstr>Calibri Light</vt:lpstr>
      <vt:lpstr>Comic Sans MS</vt:lpstr>
      <vt:lpstr>Office-téma</vt:lpstr>
      <vt:lpstr>Népességszámlálás 2025</vt:lpstr>
      <vt:lpstr>Főmenü</vt:lpstr>
      <vt:lpstr>Program célja</vt:lpstr>
      <vt:lpstr>Módok</vt:lpstr>
      <vt:lpstr>Használati utasítás</vt:lpstr>
      <vt:lpstr>Használati utasítás</vt:lpstr>
      <vt:lpstr>Használati utasítás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Bence Szabó</dc:creator>
  <cp:lastModifiedBy>Bence Szabó</cp:lastModifiedBy>
  <cp:revision>1</cp:revision>
  <dcterms:created xsi:type="dcterms:W3CDTF">2026-09-15T17:20:39Z</dcterms:created>
  <dcterms:modified xsi:type="dcterms:W3CDTF">2026-09-15T17:55:23Z</dcterms:modified>
</cp:coreProperties>
</file>